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1" r:id="rId6"/>
    <p:sldId id="263" r:id="rId7"/>
    <p:sldId id="264" r:id="rId8"/>
    <p:sldId id="267" r:id="rId9"/>
    <p:sldId id="266"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12"/>
    <p:restoredTop sz="95921"/>
  </p:normalViewPr>
  <p:slideViewPr>
    <p:cSldViewPr snapToGrid="0" snapToObjects="1">
      <p:cViewPr varScale="1">
        <p:scale>
          <a:sx n="115" d="100"/>
          <a:sy n="115" d="100"/>
        </p:scale>
        <p:origin x="2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US" sz="1800" dirty="0"/>
              <a:t>Monthly job creation in the U.S. since ChatGPT is released</a:t>
            </a:r>
          </a:p>
        </c:rich>
      </c:tx>
      <c:layout>
        <c:manualLayout>
          <c:xMode val="edge"/>
          <c:yMode val="edge"/>
          <c:x val="6.642542654846928E-2"/>
          <c:y val="2.8686173264486518E-2"/>
        </c:manualLayout>
      </c:layout>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lineChart>
        <c:grouping val="standard"/>
        <c:varyColors val="0"/>
        <c:ser>
          <c:idx val="0"/>
          <c:order val="0"/>
          <c:tx>
            <c:strRef>
              <c:f>Sheet2!$B$1</c:f>
              <c:strCache>
                <c:ptCount val="1"/>
                <c:pt idx="0">
                  <c:v>Monthly job creation in the U.S.</c:v>
                </c:pt>
              </c:strCache>
            </c:strRef>
          </c:tx>
          <c:spPr>
            <a:ln w="22225" cap="rnd">
              <a:solidFill>
                <a:srgbClr val="0070C0"/>
              </a:solidFill>
              <a:round/>
            </a:ln>
            <a:effectLst/>
          </c:spPr>
          <c:marker>
            <c:symbol val="none"/>
          </c:marker>
          <c:cat>
            <c:numRef>
              <c:f>Sheet2!$A$2:$A$18</c:f>
              <c:numCache>
                <c:formatCode>mmm\-yy</c:formatCode>
                <c:ptCount val="17"/>
                <c:pt idx="0">
                  <c:v>44866</c:v>
                </c:pt>
                <c:pt idx="1">
                  <c:v>44896</c:v>
                </c:pt>
                <c:pt idx="2">
                  <c:v>44927</c:v>
                </c:pt>
                <c:pt idx="3">
                  <c:v>44958</c:v>
                </c:pt>
                <c:pt idx="4">
                  <c:v>44986</c:v>
                </c:pt>
                <c:pt idx="5">
                  <c:v>45017</c:v>
                </c:pt>
                <c:pt idx="6">
                  <c:v>45047</c:v>
                </c:pt>
                <c:pt idx="7">
                  <c:v>45078</c:v>
                </c:pt>
                <c:pt idx="8">
                  <c:v>45108</c:v>
                </c:pt>
                <c:pt idx="9">
                  <c:v>45139</c:v>
                </c:pt>
                <c:pt idx="10">
                  <c:v>45170</c:v>
                </c:pt>
                <c:pt idx="11">
                  <c:v>45200</c:v>
                </c:pt>
                <c:pt idx="12">
                  <c:v>45231</c:v>
                </c:pt>
                <c:pt idx="13">
                  <c:v>45261</c:v>
                </c:pt>
                <c:pt idx="14">
                  <c:v>45292</c:v>
                </c:pt>
                <c:pt idx="15">
                  <c:v>45323</c:v>
                </c:pt>
                <c:pt idx="16">
                  <c:v>45352</c:v>
                </c:pt>
              </c:numCache>
            </c:numRef>
          </c:cat>
          <c:val>
            <c:numRef>
              <c:f>Sheet2!$B$2:$B$18</c:f>
              <c:numCache>
                <c:formatCode>General</c:formatCode>
                <c:ptCount val="17"/>
                <c:pt idx="0">
                  <c:v>290000</c:v>
                </c:pt>
                <c:pt idx="1">
                  <c:v>239000</c:v>
                </c:pt>
                <c:pt idx="2">
                  <c:v>482000</c:v>
                </c:pt>
                <c:pt idx="3">
                  <c:v>287000</c:v>
                </c:pt>
                <c:pt idx="4">
                  <c:v>146000</c:v>
                </c:pt>
                <c:pt idx="5">
                  <c:v>278000</c:v>
                </c:pt>
                <c:pt idx="6">
                  <c:v>303000</c:v>
                </c:pt>
                <c:pt idx="7">
                  <c:v>240000</c:v>
                </c:pt>
                <c:pt idx="8">
                  <c:v>184000</c:v>
                </c:pt>
                <c:pt idx="9">
                  <c:v>210000</c:v>
                </c:pt>
                <c:pt idx="10">
                  <c:v>246000</c:v>
                </c:pt>
                <c:pt idx="11">
                  <c:v>165000</c:v>
                </c:pt>
                <c:pt idx="12">
                  <c:v>182000</c:v>
                </c:pt>
                <c:pt idx="13">
                  <c:v>290000</c:v>
                </c:pt>
                <c:pt idx="14">
                  <c:v>229000</c:v>
                </c:pt>
                <c:pt idx="15">
                  <c:v>275000</c:v>
                </c:pt>
                <c:pt idx="16">
                  <c:v>303000</c:v>
                </c:pt>
              </c:numCache>
            </c:numRef>
          </c:val>
          <c:smooth val="0"/>
          <c:extLst>
            <c:ext xmlns:c16="http://schemas.microsoft.com/office/drawing/2014/chart" uri="{C3380CC4-5D6E-409C-BE32-E72D297353CC}">
              <c16:uniqueId val="{00000000-4F7B-1744-AAC6-2E650670AF34}"/>
            </c:ext>
          </c:extLst>
        </c:ser>
        <c:dLbls>
          <c:showLegendKey val="0"/>
          <c:showVal val="0"/>
          <c:showCatName val="0"/>
          <c:showSerName val="0"/>
          <c:showPercent val="0"/>
          <c:showBubbleSize val="0"/>
        </c:dLbls>
        <c:smooth val="0"/>
        <c:axId val="1851328559"/>
        <c:axId val="1850862415"/>
      </c:lineChart>
      <c:dateAx>
        <c:axId val="1851328559"/>
        <c:scaling>
          <c:orientation val="minMax"/>
        </c:scaling>
        <c:delete val="0"/>
        <c:axPos val="b"/>
        <c:numFmt formatCode="mmm\-yy" sourceLinked="1"/>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1850862415"/>
        <c:crosses val="autoZero"/>
        <c:auto val="1"/>
        <c:lblOffset val="100"/>
        <c:baseTimeUnit val="months"/>
      </c:dateAx>
      <c:valAx>
        <c:axId val="1850862415"/>
        <c:scaling>
          <c:orientation val="minMax"/>
        </c:scaling>
        <c:delete val="0"/>
        <c:axPos val="l"/>
        <c:majorGridlines>
          <c:spPr>
            <a:ln w="9525" cap="flat" cmpd="sng" algn="ctr">
              <a:solidFill>
                <a:schemeClr val="dk1">
                  <a:lumMod val="15000"/>
                  <a:lumOff val="85000"/>
                  <a:alpha val="54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1851328559"/>
        <c:crosses val="autoZero"/>
        <c:crossBetween val="between"/>
      </c:valAx>
      <c:spPr>
        <a:pattFill prst="ltDnDiag">
          <a:fgClr>
            <a:schemeClr val="dk1">
              <a:lumMod val="15000"/>
              <a:lumOff val="85000"/>
            </a:schemeClr>
          </a:fgClr>
          <a:bgClr>
            <a:schemeClr val="lt1"/>
          </a:bgClr>
        </a:patt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US"/>
              <a:t>Unemployment Rate since ChatGPT is released</a:t>
            </a:r>
          </a:p>
        </c:rich>
      </c:tx>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lineChart>
        <c:grouping val="standard"/>
        <c:varyColors val="0"/>
        <c:ser>
          <c:idx val="0"/>
          <c:order val="0"/>
          <c:tx>
            <c:strRef>
              <c:f>Sheet3!$B$1</c:f>
              <c:strCache>
                <c:ptCount val="1"/>
                <c:pt idx="0">
                  <c:v>Unemployment Rate</c:v>
                </c:pt>
              </c:strCache>
            </c:strRef>
          </c:tx>
          <c:spPr>
            <a:ln w="22225" cap="rnd">
              <a:solidFill>
                <a:srgbClr val="0070C0"/>
              </a:solidFill>
              <a:round/>
            </a:ln>
            <a:effectLst/>
          </c:spPr>
          <c:marker>
            <c:symbol val="none"/>
          </c:marker>
          <c:cat>
            <c:numRef>
              <c:f>Sheet3!$A$2:$A$18</c:f>
              <c:numCache>
                <c:formatCode>mmm\-yy</c:formatCode>
                <c:ptCount val="17"/>
                <c:pt idx="0">
                  <c:v>44866</c:v>
                </c:pt>
                <c:pt idx="1">
                  <c:v>44896</c:v>
                </c:pt>
                <c:pt idx="2">
                  <c:v>44927</c:v>
                </c:pt>
                <c:pt idx="3">
                  <c:v>44958</c:v>
                </c:pt>
                <c:pt idx="4">
                  <c:v>44986</c:v>
                </c:pt>
                <c:pt idx="5">
                  <c:v>45017</c:v>
                </c:pt>
                <c:pt idx="6">
                  <c:v>45047</c:v>
                </c:pt>
                <c:pt idx="7">
                  <c:v>45078</c:v>
                </c:pt>
                <c:pt idx="8">
                  <c:v>45108</c:v>
                </c:pt>
                <c:pt idx="9">
                  <c:v>45139</c:v>
                </c:pt>
                <c:pt idx="10">
                  <c:v>45170</c:v>
                </c:pt>
                <c:pt idx="11">
                  <c:v>45200</c:v>
                </c:pt>
                <c:pt idx="12">
                  <c:v>45231</c:v>
                </c:pt>
                <c:pt idx="13">
                  <c:v>45261</c:v>
                </c:pt>
                <c:pt idx="14">
                  <c:v>45292</c:v>
                </c:pt>
                <c:pt idx="15">
                  <c:v>45323</c:v>
                </c:pt>
                <c:pt idx="16">
                  <c:v>45352</c:v>
                </c:pt>
              </c:numCache>
            </c:numRef>
          </c:cat>
          <c:val>
            <c:numRef>
              <c:f>Sheet3!$B$2:$B$18</c:f>
              <c:numCache>
                <c:formatCode>General</c:formatCode>
                <c:ptCount val="17"/>
                <c:pt idx="0">
                  <c:v>3.6</c:v>
                </c:pt>
                <c:pt idx="1">
                  <c:v>3.5</c:v>
                </c:pt>
                <c:pt idx="2">
                  <c:v>3.4</c:v>
                </c:pt>
                <c:pt idx="3">
                  <c:v>3.6</c:v>
                </c:pt>
                <c:pt idx="4">
                  <c:v>3.5</c:v>
                </c:pt>
                <c:pt idx="5">
                  <c:v>3.4</c:v>
                </c:pt>
                <c:pt idx="6">
                  <c:v>3.7</c:v>
                </c:pt>
                <c:pt idx="7">
                  <c:v>3.6</c:v>
                </c:pt>
                <c:pt idx="8">
                  <c:v>3.5</c:v>
                </c:pt>
                <c:pt idx="9">
                  <c:v>3.8</c:v>
                </c:pt>
                <c:pt idx="10">
                  <c:v>3.8</c:v>
                </c:pt>
                <c:pt idx="11">
                  <c:v>3.9</c:v>
                </c:pt>
                <c:pt idx="12">
                  <c:v>3.7</c:v>
                </c:pt>
                <c:pt idx="13">
                  <c:v>3.7</c:v>
                </c:pt>
                <c:pt idx="14">
                  <c:v>3.7</c:v>
                </c:pt>
                <c:pt idx="15">
                  <c:v>3.9</c:v>
                </c:pt>
                <c:pt idx="16">
                  <c:v>3.8</c:v>
                </c:pt>
              </c:numCache>
            </c:numRef>
          </c:val>
          <c:smooth val="0"/>
          <c:extLst>
            <c:ext xmlns:c16="http://schemas.microsoft.com/office/drawing/2014/chart" uri="{C3380CC4-5D6E-409C-BE32-E72D297353CC}">
              <c16:uniqueId val="{00000000-CA46-C843-BE0D-80E8A4C0A293}"/>
            </c:ext>
          </c:extLst>
        </c:ser>
        <c:dLbls>
          <c:showLegendKey val="0"/>
          <c:showVal val="0"/>
          <c:showCatName val="0"/>
          <c:showSerName val="0"/>
          <c:showPercent val="0"/>
          <c:showBubbleSize val="0"/>
        </c:dLbls>
        <c:smooth val="0"/>
        <c:axId val="1851148719"/>
        <c:axId val="1851037711"/>
      </c:lineChart>
      <c:dateAx>
        <c:axId val="1851148719"/>
        <c:scaling>
          <c:orientation val="minMax"/>
        </c:scaling>
        <c:delete val="0"/>
        <c:axPos val="b"/>
        <c:numFmt formatCode="mmm\-yy" sourceLinked="1"/>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1851037711"/>
        <c:crosses val="autoZero"/>
        <c:auto val="1"/>
        <c:lblOffset val="100"/>
        <c:baseTimeUnit val="months"/>
      </c:dateAx>
      <c:valAx>
        <c:axId val="1851037711"/>
        <c:scaling>
          <c:orientation val="minMax"/>
        </c:scaling>
        <c:delete val="0"/>
        <c:axPos val="l"/>
        <c:majorGridlines>
          <c:spPr>
            <a:ln w="9525" cap="flat" cmpd="sng" algn="ctr">
              <a:solidFill>
                <a:schemeClr val="dk1">
                  <a:lumMod val="15000"/>
                  <a:lumOff val="85000"/>
                  <a:alpha val="54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1851148719"/>
        <c:crosses val="autoZero"/>
        <c:crossBetween val="between"/>
      </c:valAx>
      <c:spPr>
        <a:pattFill prst="ltDnDiag">
          <a:fgClr>
            <a:schemeClr val="dk1">
              <a:lumMod val="15000"/>
              <a:lumOff val="85000"/>
            </a:schemeClr>
          </a:fgClr>
          <a:bgClr>
            <a:schemeClr val="lt1"/>
          </a:bgClr>
        </a:patt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2">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alpha val="54000"/>
          </a:schemeClr>
        </a:solidFill>
        <a:round/>
      </a:ln>
    </cs:spPr>
  </cs:gridlineMajor>
  <cs:gridlineMinor>
    <cs:lnRef idx="0"/>
    <cs:fillRef idx="0"/>
    <cs:effectRef idx="0"/>
    <cs:fontRef idx="minor">
      <a:schemeClr val="dk1"/>
    </cs:fontRef>
    <cs:spPr>
      <a:ln w="9525" cap="flat" cmpd="sng" algn="ctr">
        <a:solidFill>
          <a:schemeClr val="dk1">
            <a:lumMod val="15000"/>
            <a:lumOff val="85000"/>
            <a:alpha val="51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xml><?xml version="1.0" encoding="utf-8"?>
<cs:chartStyle xmlns:cs="http://schemas.microsoft.com/office/drawing/2012/chartStyle" xmlns:a="http://schemas.openxmlformats.org/drawingml/2006/main" id="232">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alpha val="54000"/>
          </a:schemeClr>
        </a:solidFill>
        <a:round/>
      </a:ln>
    </cs:spPr>
  </cs:gridlineMajor>
  <cs:gridlineMinor>
    <cs:lnRef idx="0"/>
    <cs:fillRef idx="0"/>
    <cs:effectRef idx="0"/>
    <cs:fontRef idx="minor">
      <a:schemeClr val="dk1"/>
    </cs:fontRef>
    <cs:spPr>
      <a:ln w="9525" cap="flat" cmpd="sng" algn="ctr">
        <a:solidFill>
          <a:schemeClr val="dk1">
            <a:lumMod val="15000"/>
            <a:lumOff val="85000"/>
            <a:alpha val="51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5/12/24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file:////var/folders/yy/bjgl_gm55t34xf3472k48b_r0000gn/T/com.microsoft.Word/WebArchiveCopyPasteTempFiles/Rlbt11Um94xQ5vNRSd3njJIwi3X_PmxUAC8wdLZz3irX5mnwUrN_lC1kgQhRzrg19W4vKtRvjEnOobdnDyiYFXekz2TjuXacOQ1QetufpeOn5RMYpUeHBZmaSDThS3hx4YCD8Lq7wXFhc7uhlhRF4v0"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www.business.com/technology/chatgpt-usage-workplace-study/" TargetMode="External"/><Relationship Id="rId13" Type="http://schemas.openxmlformats.org/officeDocument/2006/relationships/hyperlink" Target="https://www.medicaleconomics.com/view/chatgpt-health-care-s-next-big-thing-" TargetMode="External"/><Relationship Id="rId3" Type="http://schemas.openxmlformats.org/officeDocument/2006/relationships/hyperlink" Target="https://explodingtopics.com/blog/chatgpt-users" TargetMode="External"/><Relationship Id="rId7" Type="http://schemas.openxmlformats.org/officeDocument/2006/relationships/hyperlink" Target="https://www.linkedin.com/pulse/consequences-chat-gpt-transforming-society-world-jaliawala-acca-/" TargetMode="External"/><Relationship Id="rId12" Type="http://schemas.openxmlformats.org/officeDocument/2006/relationships/hyperlink" Target="https://www.simon-kucher.com/en/insights/chat-gpt-and-ai-healthcare-just-what-doctor-ordered" TargetMode="External"/><Relationship Id="rId17" Type="http://schemas.openxmlformats.org/officeDocument/2006/relationships/hyperlink" Target="https://www.thefountaininstitute.com/blog/chat-gpt-ethics" TargetMode="External"/><Relationship Id="rId2" Type="http://schemas.openxmlformats.org/officeDocument/2006/relationships/hyperlink" Target="https://gitnux.org/chat-gpt-statistics/#:~:text=Chat%20GPT%20is%20attracting%20an" TargetMode="External"/><Relationship Id="rId16" Type="http://schemas.openxmlformats.org/officeDocument/2006/relationships/hyperlink" Target="https://doi.org/10.1016/j.ijinfomgt.2023.102700" TargetMode="External"/><Relationship Id="rId1" Type="http://schemas.openxmlformats.org/officeDocument/2006/relationships/slideLayout" Target="../slideLayouts/slideLayout2.xml"/><Relationship Id="rId6" Type="http://schemas.openxmlformats.org/officeDocument/2006/relationships/hyperlink" Target="https://www.quora.com/Is-Chat-GPT-changing-the-world#:~:text=Here%20are%20some%20of%20the" TargetMode="External"/><Relationship Id="rId11" Type="http://schemas.openxmlformats.org/officeDocument/2006/relationships/hyperlink" Target="https://www.hiringlab.org/2023/11/15/indeeds-2024-us-jobs-hiring-trends-report/" TargetMode="External"/><Relationship Id="rId5" Type="http://schemas.openxmlformats.org/officeDocument/2006/relationships/hyperlink" Target="https://www.tdk.com/en/tech-mag/past-present-future-tech/what-is-chat-gpt#section6" TargetMode="External"/><Relationship Id="rId15" Type="http://schemas.openxmlformats.org/officeDocument/2006/relationships/hyperlink" Target="https://www.cnn.com/2023/03/29/tech/chatgpt-ai-automation-jobs-impact-intl-hnk/index.html" TargetMode="External"/><Relationship Id="rId10" Type="http://schemas.openxmlformats.org/officeDocument/2006/relationships/hyperlink" Target="https://www.businessofapps.com/data/chatgpt-statistics/" TargetMode="External"/><Relationship Id="rId4" Type="http://schemas.openxmlformats.org/officeDocument/2006/relationships/hyperlink" Target="https://www.gartner.com/en/articles/your-7-biggest-chatgpt-questions-answered" TargetMode="External"/><Relationship Id="rId9" Type="http://schemas.openxmlformats.org/officeDocument/2006/relationships/hyperlink" Target="https://www.entrepreneur.com/science-technology/what-does-chatgpt-mean-for-the-future-of-business/445020" TargetMode="External"/><Relationship Id="rId14" Type="http://schemas.openxmlformats.org/officeDocument/2006/relationships/hyperlink" Target="https://www.precedenceresearch.com/generative-ai-in-healthcare-mark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E8CDD-400A-1444-9132-F2CFA9FE5C33}"/>
              </a:ext>
            </a:extLst>
          </p:cNvPr>
          <p:cNvSpPr>
            <a:spLocks noGrp="1"/>
          </p:cNvSpPr>
          <p:nvPr>
            <p:ph type="ctrTitle"/>
          </p:nvPr>
        </p:nvSpPr>
        <p:spPr>
          <a:xfrm>
            <a:off x="2589213" y="2514601"/>
            <a:ext cx="8915399" cy="1310268"/>
          </a:xfrm>
        </p:spPr>
        <p:txBody>
          <a:bodyPr anchor="t">
            <a:normAutofit/>
          </a:bodyPr>
          <a:lstStyle/>
          <a:p>
            <a:r>
              <a:rPr lang="en-US" sz="3200" b="1" dirty="0"/>
              <a:t>The future of ChatGPT: How will ChatGPT impact the world?</a:t>
            </a:r>
            <a:endParaRPr lang="en-US" sz="3200" dirty="0"/>
          </a:p>
        </p:txBody>
      </p:sp>
      <p:sp>
        <p:nvSpPr>
          <p:cNvPr id="3" name="Subtitle 2">
            <a:extLst>
              <a:ext uri="{FF2B5EF4-FFF2-40B4-BE49-F238E27FC236}">
                <a16:creationId xmlns:a16="http://schemas.microsoft.com/office/drawing/2014/main" id="{68B75466-08F0-B046-8493-54C619D811D9}"/>
              </a:ext>
            </a:extLst>
          </p:cNvPr>
          <p:cNvSpPr>
            <a:spLocks noGrp="1"/>
          </p:cNvSpPr>
          <p:nvPr>
            <p:ph type="subTitle" idx="1"/>
          </p:nvPr>
        </p:nvSpPr>
        <p:spPr>
          <a:xfrm>
            <a:off x="2589213" y="3824869"/>
            <a:ext cx="8915399" cy="2078794"/>
          </a:xfrm>
        </p:spPr>
        <p:txBody>
          <a:bodyPr>
            <a:normAutofit/>
          </a:bodyPr>
          <a:lstStyle/>
          <a:p>
            <a:r>
              <a:rPr lang="en-US" sz="1600" dirty="0"/>
              <a:t>MATHAN KUMAR THAVU MUDALIAR KANAGARAJ</a:t>
            </a:r>
          </a:p>
          <a:p>
            <a:r>
              <a:rPr lang="en-US" sz="1600" dirty="0"/>
              <a:t>BELLEVUE UNIVERSITY</a:t>
            </a:r>
          </a:p>
          <a:p>
            <a:r>
              <a:rPr lang="en-US" sz="1600" dirty="0"/>
              <a:t>DSC 500 INTRODUCTION TO DATA SCIENCE</a:t>
            </a:r>
          </a:p>
          <a:p>
            <a:r>
              <a:rPr lang="en-US" sz="1600" dirty="0"/>
              <a:t>PROF. MATTHEW METZGER</a:t>
            </a:r>
          </a:p>
          <a:p>
            <a:r>
              <a:rPr lang="en-US" sz="1600" dirty="0"/>
              <a:t>05/12/2024 </a:t>
            </a:r>
          </a:p>
        </p:txBody>
      </p:sp>
    </p:spTree>
    <p:extLst>
      <p:ext uri="{BB962C8B-B14F-4D97-AF65-F5344CB8AC3E}">
        <p14:creationId xmlns:p14="http://schemas.microsoft.com/office/powerpoint/2010/main" val="3854106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3AC6F-701D-EC46-B46B-286F2448A8F8}"/>
              </a:ext>
            </a:extLst>
          </p:cNvPr>
          <p:cNvSpPr>
            <a:spLocks noGrp="1"/>
          </p:cNvSpPr>
          <p:nvPr>
            <p:ph type="title"/>
          </p:nvPr>
        </p:nvSpPr>
        <p:spPr>
          <a:xfrm>
            <a:off x="2592924" y="166910"/>
            <a:ext cx="8911687" cy="602524"/>
          </a:xfrm>
        </p:spPr>
        <p:txBody>
          <a:bodyPr>
            <a:normAutofit/>
          </a:bodyPr>
          <a:lstStyle/>
          <a:p>
            <a:r>
              <a:rPr lang="en-US" sz="2800" dirty="0"/>
              <a:t>ChatGPT Overview</a:t>
            </a:r>
          </a:p>
        </p:txBody>
      </p:sp>
      <p:sp>
        <p:nvSpPr>
          <p:cNvPr id="3" name="Content Placeholder 2">
            <a:extLst>
              <a:ext uri="{FF2B5EF4-FFF2-40B4-BE49-F238E27FC236}">
                <a16:creationId xmlns:a16="http://schemas.microsoft.com/office/drawing/2014/main" id="{975FDA38-1E4E-4C44-9CFC-994192556102}"/>
              </a:ext>
            </a:extLst>
          </p:cNvPr>
          <p:cNvSpPr>
            <a:spLocks noGrp="1"/>
          </p:cNvSpPr>
          <p:nvPr>
            <p:ph idx="1"/>
          </p:nvPr>
        </p:nvSpPr>
        <p:spPr>
          <a:xfrm>
            <a:off x="2362200" y="769434"/>
            <a:ext cx="9829800" cy="5932449"/>
          </a:xfrm>
        </p:spPr>
        <p:txBody>
          <a:bodyPr>
            <a:normAutofit fontScale="92500" lnSpcReduction="10000"/>
          </a:bodyPr>
          <a:lstStyle/>
          <a:p>
            <a:r>
              <a:rPr lang="en-US" b="1" dirty="0"/>
              <a:t>What is ChatGPT, how does it work and what are its application?</a:t>
            </a:r>
          </a:p>
          <a:p>
            <a:pPr lvl="1">
              <a:lnSpc>
                <a:spcPct val="160000"/>
              </a:lnSpc>
            </a:pPr>
            <a:r>
              <a:rPr lang="en-US" sz="1700" dirty="0"/>
              <a:t>The Chat Generative Pretrained Transformer (released on November, 2022), also referred to as Chat GPT, is a chatbot that combines artificial intelligence (AI).</a:t>
            </a:r>
          </a:p>
          <a:p>
            <a:pPr lvl="1">
              <a:lnSpc>
                <a:spcPct val="160000"/>
              </a:lnSpc>
            </a:pPr>
            <a:r>
              <a:rPr lang="en-US" sz="1700" dirty="0"/>
              <a:t>It uses natural language processing (NLP) technology to generate responses to user queries that resemble human conversations </a:t>
            </a:r>
          </a:p>
          <a:p>
            <a:pPr lvl="1">
              <a:lnSpc>
                <a:spcPct val="160000"/>
              </a:lnSpc>
            </a:pPr>
            <a:r>
              <a:rPr lang="en-US" sz="1700" dirty="0"/>
              <a:t>Applications of Chat GPT includes comprehending natural language and produce meaningful, contextually appropriate responses, producing premium content rapidly etc.,</a:t>
            </a:r>
          </a:p>
          <a:p>
            <a:r>
              <a:rPr lang="en-US" b="1" dirty="0"/>
              <a:t>What is the scope of this study?</a:t>
            </a:r>
          </a:p>
          <a:p>
            <a:pPr marL="0" indent="0">
              <a:buNone/>
            </a:pPr>
            <a:r>
              <a:rPr lang="en-US" dirty="0"/>
              <a:t>	As a part of this study, the following topics will be carefully examined</a:t>
            </a:r>
          </a:p>
          <a:p>
            <a:pPr lvl="1"/>
            <a:r>
              <a:rPr lang="en-US" sz="1700" dirty="0"/>
              <a:t>What role will ChatGPT play on business enterprise?</a:t>
            </a:r>
          </a:p>
          <a:p>
            <a:pPr lvl="1">
              <a:lnSpc>
                <a:spcPct val="150000"/>
              </a:lnSpc>
            </a:pPr>
            <a:r>
              <a:rPr lang="en-US" sz="1700" dirty="0"/>
              <a:t>Will more investment in ChatGPT help achieve better outcome in healthcare?</a:t>
            </a:r>
          </a:p>
          <a:p>
            <a:pPr lvl="1">
              <a:lnSpc>
                <a:spcPct val="150000"/>
              </a:lnSpc>
            </a:pPr>
            <a:r>
              <a:rPr lang="en-US" sz="1700" dirty="0"/>
              <a:t>What are the limitations of ChatGPT and ethical concerns surrounding ChatGPT?</a:t>
            </a:r>
          </a:p>
          <a:p>
            <a:pPr lvl="1">
              <a:lnSpc>
                <a:spcPct val="150000"/>
              </a:lnSpc>
            </a:pPr>
            <a:r>
              <a:rPr lang="en-US" sz="1700" dirty="0"/>
              <a:t>How ChatGPT will impact the Workforce?</a:t>
            </a:r>
          </a:p>
          <a:p>
            <a:pPr lvl="1">
              <a:lnSpc>
                <a:spcPct val="150000"/>
              </a:lnSpc>
            </a:pPr>
            <a:r>
              <a:rPr lang="en-US" sz="1700" dirty="0"/>
              <a:t>What are the next chapters of Chat GPT?</a:t>
            </a:r>
          </a:p>
          <a:p>
            <a:pPr marL="400050" lvl="1" indent="0">
              <a:buNone/>
            </a:pPr>
            <a:endParaRPr lang="en-US" dirty="0"/>
          </a:p>
          <a:p>
            <a:pPr marL="400050" lvl="1" indent="0">
              <a:buNone/>
            </a:pPr>
            <a:endParaRPr lang="en-US" dirty="0"/>
          </a:p>
        </p:txBody>
      </p:sp>
    </p:spTree>
    <p:extLst>
      <p:ext uri="{BB962C8B-B14F-4D97-AF65-F5344CB8AC3E}">
        <p14:creationId xmlns:p14="http://schemas.microsoft.com/office/powerpoint/2010/main" val="376415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86D7F-1697-5D44-A60B-71743ADAE74F}"/>
              </a:ext>
            </a:extLst>
          </p:cNvPr>
          <p:cNvSpPr>
            <a:spLocks noGrp="1"/>
          </p:cNvSpPr>
          <p:nvPr>
            <p:ph type="title"/>
          </p:nvPr>
        </p:nvSpPr>
        <p:spPr>
          <a:xfrm>
            <a:off x="2589212" y="201218"/>
            <a:ext cx="8911687" cy="563204"/>
          </a:xfrm>
        </p:spPr>
        <p:txBody>
          <a:bodyPr>
            <a:noAutofit/>
          </a:bodyPr>
          <a:lstStyle/>
          <a:p>
            <a:r>
              <a:rPr lang="en-US" sz="2800" dirty="0"/>
              <a:t>ChatGPT Trend</a:t>
            </a:r>
          </a:p>
        </p:txBody>
      </p:sp>
      <p:sp>
        <p:nvSpPr>
          <p:cNvPr id="3" name="Content Placeholder 2">
            <a:extLst>
              <a:ext uri="{FF2B5EF4-FFF2-40B4-BE49-F238E27FC236}">
                <a16:creationId xmlns:a16="http://schemas.microsoft.com/office/drawing/2014/main" id="{810E20E1-C8AC-A54E-84B3-06010F669E15}"/>
              </a:ext>
            </a:extLst>
          </p:cNvPr>
          <p:cNvSpPr>
            <a:spLocks noGrp="1"/>
          </p:cNvSpPr>
          <p:nvPr>
            <p:ph idx="1"/>
          </p:nvPr>
        </p:nvSpPr>
        <p:spPr>
          <a:xfrm>
            <a:off x="2589212" y="764421"/>
            <a:ext cx="8915400" cy="5989669"/>
          </a:xfrm>
        </p:spPr>
        <p:txBody>
          <a:bodyPr/>
          <a:lstStyle/>
          <a:p>
            <a:r>
              <a:rPr lang="en-US" dirty="0"/>
              <a:t>The graph from Google Trend reveals that the interest towards the ChatGPT subject has been increasingly gaining popularity. It helps understand the significance of the tool and positive sentiment towards the application of tool and its competence across the globe. </a:t>
            </a:r>
          </a:p>
        </p:txBody>
      </p:sp>
      <p:pic>
        <p:nvPicPr>
          <p:cNvPr id="5" name="Picture 4">
            <a:extLst>
              <a:ext uri="{FF2B5EF4-FFF2-40B4-BE49-F238E27FC236}">
                <a16:creationId xmlns:a16="http://schemas.microsoft.com/office/drawing/2014/main" id="{8E94A0E7-11E9-4541-97C3-7BDDB8642FC8}"/>
              </a:ext>
            </a:extLst>
          </p:cNvPr>
          <p:cNvPicPr/>
          <p:nvPr/>
        </p:nvPicPr>
        <p:blipFill>
          <a:blip r:embed="rId2">
            <a:extLst>
              <a:ext uri="{28A0092B-C50C-407E-A947-70E740481C1C}">
                <a14:useLocalDpi xmlns:a14="http://schemas.microsoft.com/office/drawing/2010/main" val="0"/>
              </a:ext>
            </a:extLst>
          </a:blip>
          <a:stretch>
            <a:fillRect/>
          </a:stretch>
        </p:blipFill>
        <p:spPr>
          <a:xfrm>
            <a:off x="2959849" y="2165206"/>
            <a:ext cx="8541049" cy="1689822"/>
          </a:xfrm>
          <a:prstGeom prst="rect">
            <a:avLst/>
          </a:prstGeom>
        </p:spPr>
      </p:pic>
      <p:sp>
        <p:nvSpPr>
          <p:cNvPr id="6" name="Rectangle 5">
            <a:extLst>
              <a:ext uri="{FF2B5EF4-FFF2-40B4-BE49-F238E27FC236}">
                <a16:creationId xmlns:a16="http://schemas.microsoft.com/office/drawing/2014/main" id="{C4F91890-AEC0-1C49-8584-67A81C93526C}"/>
              </a:ext>
            </a:extLst>
          </p:cNvPr>
          <p:cNvSpPr/>
          <p:nvPr/>
        </p:nvSpPr>
        <p:spPr>
          <a:xfrm>
            <a:off x="2959849" y="3961254"/>
            <a:ext cx="8468312" cy="307777"/>
          </a:xfrm>
          <a:prstGeom prst="rect">
            <a:avLst/>
          </a:prstGeom>
        </p:spPr>
        <p:txBody>
          <a:bodyPr wrap="square">
            <a:spAutoFit/>
          </a:bodyPr>
          <a:lstStyle/>
          <a:p>
            <a:r>
              <a:rPr lang="en-US" sz="1400" i="1" dirty="0">
                <a:solidFill>
                  <a:schemeClr val="tx1">
                    <a:lumMod val="75000"/>
                    <a:lumOff val="25000"/>
                  </a:schemeClr>
                </a:solidFill>
              </a:rPr>
              <a:t>Topic Future of ChatGPT predates the release of the tool, November 2022. </a:t>
            </a:r>
          </a:p>
        </p:txBody>
      </p:sp>
      <p:pic>
        <p:nvPicPr>
          <p:cNvPr id="7" name="Picture 6">
            <a:extLst>
              <a:ext uri="{FF2B5EF4-FFF2-40B4-BE49-F238E27FC236}">
                <a16:creationId xmlns:a16="http://schemas.microsoft.com/office/drawing/2014/main" id="{6A3FDB86-18BF-D542-805D-072CDFE2C6D9}"/>
              </a:ext>
            </a:extLst>
          </p:cNvPr>
          <p:cNvPicPr/>
          <p:nvPr/>
        </p:nvPicPr>
        <p:blipFill>
          <a:blip r:embed="rId3">
            <a:extLst>
              <a:ext uri="{28A0092B-C50C-407E-A947-70E740481C1C}">
                <a14:useLocalDpi xmlns:a14="http://schemas.microsoft.com/office/drawing/2010/main" val="0"/>
              </a:ext>
            </a:extLst>
          </a:blip>
          <a:stretch>
            <a:fillRect/>
          </a:stretch>
        </p:blipFill>
        <p:spPr>
          <a:xfrm>
            <a:off x="2959848" y="4375256"/>
            <a:ext cx="8541049" cy="2295707"/>
          </a:xfrm>
          <a:prstGeom prst="rect">
            <a:avLst/>
          </a:prstGeom>
        </p:spPr>
      </p:pic>
    </p:spTree>
    <p:extLst>
      <p:ext uri="{BB962C8B-B14F-4D97-AF65-F5344CB8AC3E}">
        <p14:creationId xmlns:p14="http://schemas.microsoft.com/office/powerpoint/2010/main" val="922619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F151-3677-B147-B448-8126181E38F8}"/>
              </a:ext>
            </a:extLst>
          </p:cNvPr>
          <p:cNvSpPr>
            <a:spLocks noGrp="1"/>
          </p:cNvSpPr>
          <p:nvPr>
            <p:ph type="title"/>
          </p:nvPr>
        </p:nvSpPr>
        <p:spPr>
          <a:xfrm>
            <a:off x="2589212" y="135737"/>
            <a:ext cx="8911687" cy="612408"/>
          </a:xfrm>
        </p:spPr>
        <p:txBody>
          <a:bodyPr>
            <a:normAutofit/>
          </a:bodyPr>
          <a:lstStyle/>
          <a:p>
            <a:r>
              <a:rPr lang="en-US" sz="2800" dirty="0"/>
              <a:t>Role of ChatGPT in Business Enterprise</a:t>
            </a:r>
          </a:p>
        </p:txBody>
      </p:sp>
      <p:sp>
        <p:nvSpPr>
          <p:cNvPr id="3" name="Content Placeholder 2">
            <a:extLst>
              <a:ext uri="{FF2B5EF4-FFF2-40B4-BE49-F238E27FC236}">
                <a16:creationId xmlns:a16="http://schemas.microsoft.com/office/drawing/2014/main" id="{6871C4F2-1A26-504C-9550-6A878BFCAEF4}"/>
              </a:ext>
            </a:extLst>
          </p:cNvPr>
          <p:cNvSpPr>
            <a:spLocks noGrp="1"/>
          </p:cNvSpPr>
          <p:nvPr>
            <p:ph idx="1"/>
          </p:nvPr>
        </p:nvSpPr>
        <p:spPr>
          <a:xfrm>
            <a:off x="2589211" y="748146"/>
            <a:ext cx="9063291" cy="2327564"/>
          </a:xfrm>
        </p:spPr>
        <p:txBody>
          <a:bodyPr>
            <a:normAutofit/>
          </a:bodyPr>
          <a:lstStyle/>
          <a:p>
            <a:r>
              <a:rPr lang="en-US" dirty="0"/>
              <a:t>Trivial business tasks like data entry, appointment scheduling, and managing schedule conflicts can be effectively handled with ChatGPT</a:t>
            </a:r>
          </a:p>
          <a:p>
            <a:r>
              <a:rPr lang="en-US" dirty="0"/>
              <a:t>ChatGPT offers employees opportunities to acquire new skills and contribute more effectively to the business</a:t>
            </a:r>
          </a:p>
          <a:p>
            <a:r>
              <a:rPr lang="en-US" dirty="0"/>
              <a:t>We can get an indication of effectiveness of ChatGPT by analyzing the Sales numbers of ChatGPT and the volume of job offers fulfilled for ChatGPT skillset</a:t>
            </a:r>
          </a:p>
        </p:txBody>
      </p:sp>
      <p:sp>
        <p:nvSpPr>
          <p:cNvPr id="9" name="Rectangle 8">
            <a:extLst>
              <a:ext uri="{FF2B5EF4-FFF2-40B4-BE49-F238E27FC236}">
                <a16:creationId xmlns:a16="http://schemas.microsoft.com/office/drawing/2014/main" id="{0973EA2F-0F3B-DF44-957C-9D2692913A40}"/>
              </a:ext>
            </a:extLst>
          </p:cNvPr>
          <p:cNvSpPr>
            <a:spLocks noChangeArrowheads="1"/>
          </p:cNvSpPr>
          <p:nvPr/>
        </p:nvSpPr>
        <p:spPr bwMode="auto">
          <a:xfrm>
            <a:off x="2930236" y="3268466"/>
            <a:ext cx="1625871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31" name="Picture 9" descr="Indeed's 2024 US Jobs &amp; Hiring Trends Report">
            <a:extLst>
              <a:ext uri="{FF2B5EF4-FFF2-40B4-BE49-F238E27FC236}">
                <a16:creationId xmlns:a16="http://schemas.microsoft.com/office/drawing/2014/main" id="{DAE41B89-5EFD-E844-B6EC-429943D9AA45}"/>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338454" y="3215349"/>
            <a:ext cx="5314049" cy="317024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Table 15">
            <a:extLst>
              <a:ext uri="{FF2B5EF4-FFF2-40B4-BE49-F238E27FC236}">
                <a16:creationId xmlns:a16="http://schemas.microsoft.com/office/drawing/2014/main" id="{E74541BF-2B8C-5A4E-BE1D-1BFBE6D74E92}"/>
              </a:ext>
            </a:extLst>
          </p:cNvPr>
          <p:cNvGraphicFramePr>
            <a:graphicFrameLocks noGrp="1"/>
          </p:cNvGraphicFramePr>
          <p:nvPr>
            <p:extLst>
              <p:ext uri="{D42A27DB-BD31-4B8C-83A1-F6EECF244321}">
                <p14:modId xmlns:p14="http://schemas.microsoft.com/office/powerpoint/2010/main" val="1532417176"/>
              </p:ext>
            </p:extLst>
          </p:nvPr>
        </p:nvGraphicFramePr>
        <p:xfrm>
          <a:off x="2930236" y="3215349"/>
          <a:ext cx="3313343" cy="1381760"/>
        </p:xfrm>
        <a:graphic>
          <a:graphicData uri="http://schemas.openxmlformats.org/drawingml/2006/table">
            <a:tbl>
              <a:tblPr firstRow="1" bandRow="1">
                <a:tableStyleId>{BC89EF96-8CEA-46FF-86C4-4CE0E7609802}</a:tableStyleId>
              </a:tblPr>
              <a:tblGrid>
                <a:gridCol w="1246909">
                  <a:extLst>
                    <a:ext uri="{9D8B030D-6E8A-4147-A177-3AD203B41FA5}">
                      <a16:colId xmlns:a16="http://schemas.microsoft.com/office/drawing/2014/main" val="3710235533"/>
                    </a:ext>
                  </a:extLst>
                </a:gridCol>
                <a:gridCol w="2066434">
                  <a:extLst>
                    <a:ext uri="{9D8B030D-6E8A-4147-A177-3AD203B41FA5}">
                      <a16:colId xmlns:a16="http://schemas.microsoft.com/office/drawing/2014/main" val="796413734"/>
                    </a:ext>
                  </a:extLst>
                </a:gridCol>
              </a:tblGrid>
              <a:tr h="370840">
                <a:tc>
                  <a:txBody>
                    <a:bodyPr/>
                    <a:lstStyle/>
                    <a:p>
                      <a:pPr algn="ctr"/>
                      <a:r>
                        <a:rPr lang="en-US" dirty="0"/>
                        <a:t>Year</a:t>
                      </a:r>
                    </a:p>
                  </a:txBody>
                  <a:tcPr anchor="ctr"/>
                </a:tc>
                <a:tc>
                  <a:txBody>
                    <a:bodyPr/>
                    <a:lstStyle/>
                    <a:p>
                      <a:pPr algn="ctr"/>
                      <a:r>
                        <a:rPr lang="en-US" dirty="0"/>
                        <a:t>Estimated Revenue  ($mm)</a:t>
                      </a:r>
                    </a:p>
                  </a:txBody>
                  <a:tcPr anchor="ctr"/>
                </a:tc>
                <a:extLst>
                  <a:ext uri="{0D108BD9-81ED-4DB2-BD59-A6C34878D82A}">
                    <a16:rowId xmlns:a16="http://schemas.microsoft.com/office/drawing/2014/main" val="3187806881"/>
                  </a:ext>
                </a:extLst>
              </a:tr>
              <a:tr h="370840">
                <a:tc>
                  <a:txBody>
                    <a:bodyPr/>
                    <a:lstStyle/>
                    <a:p>
                      <a:r>
                        <a:rPr lang="en-US" dirty="0"/>
                        <a:t>2022</a:t>
                      </a:r>
                    </a:p>
                  </a:txBody>
                  <a:tcPr/>
                </a:tc>
                <a:tc>
                  <a:txBody>
                    <a:bodyPr/>
                    <a:lstStyle/>
                    <a:p>
                      <a:r>
                        <a:rPr lang="en-US" dirty="0"/>
                        <a:t>100</a:t>
                      </a:r>
                    </a:p>
                  </a:txBody>
                  <a:tcPr/>
                </a:tc>
                <a:extLst>
                  <a:ext uri="{0D108BD9-81ED-4DB2-BD59-A6C34878D82A}">
                    <a16:rowId xmlns:a16="http://schemas.microsoft.com/office/drawing/2014/main" val="1326865475"/>
                  </a:ext>
                </a:extLst>
              </a:tr>
              <a:tr h="370840">
                <a:tc>
                  <a:txBody>
                    <a:bodyPr/>
                    <a:lstStyle/>
                    <a:p>
                      <a:r>
                        <a:rPr lang="en-US" dirty="0"/>
                        <a:t>2023</a:t>
                      </a:r>
                    </a:p>
                  </a:txBody>
                  <a:tcPr/>
                </a:tc>
                <a:tc>
                  <a:txBody>
                    <a:bodyPr/>
                    <a:lstStyle/>
                    <a:p>
                      <a:r>
                        <a:rPr lang="en-US" dirty="0"/>
                        <a:t>1600</a:t>
                      </a:r>
                    </a:p>
                  </a:txBody>
                  <a:tcPr/>
                </a:tc>
                <a:extLst>
                  <a:ext uri="{0D108BD9-81ED-4DB2-BD59-A6C34878D82A}">
                    <a16:rowId xmlns:a16="http://schemas.microsoft.com/office/drawing/2014/main" val="1370257392"/>
                  </a:ext>
                </a:extLst>
              </a:tr>
            </a:tbl>
          </a:graphicData>
        </a:graphic>
      </p:graphicFrame>
      <p:graphicFrame>
        <p:nvGraphicFramePr>
          <p:cNvPr id="22" name="Table 21">
            <a:extLst>
              <a:ext uri="{FF2B5EF4-FFF2-40B4-BE49-F238E27FC236}">
                <a16:creationId xmlns:a16="http://schemas.microsoft.com/office/drawing/2014/main" id="{08D9A72C-C520-7146-B7C0-AF7044DCE0E8}"/>
              </a:ext>
            </a:extLst>
          </p:cNvPr>
          <p:cNvGraphicFramePr>
            <a:graphicFrameLocks noGrp="1"/>
          </p:cNvGraphicFramePr>
          <p:nvPr>
            <p:extLst>
              <p:ext uri="{D42A27DB-BD31-4B8C-83A1-F6EECF244321}">
                <p14:modId xmlns:p14="http://schemas.microsoft.com/office/powerpoint/2010/main" val="296292246"/>
              </p:ext>
            </p:extLst>
          </p:nvPr>
        </p:nvGraphicFramePr>
        <p:xfrm>
          <a:off x="2930236" y="5003837"/>
          <a:ext cx="3313343" cy="1381760"/>
        </p:xfrm>
        <a:graphic>
          <a:graphicData uri="http://schemas.openxmlformats.org/drawingml/2006/table">
            <a:tbl>
              <a:tblPr firstRow="1" bandRow="1">
                <a:tableStyleId>{BC89EF96-8CEA-46FF-86C4-4CE0E7609802}</a:tableStyleId>
              </a:tblPr>
              <a:tblGrid>
                <a:gridCol w="1246909">
                  <a:extLst>
                    <a:ext uri="{9D8B030D-6E8A-4147-A177-3AD203B41FA5}">
                      <a16:colId xmlns:a16="http://schemas.microsoft.com/office/drawing/2014/main" val="3710235533"/>
                    </a:ext>
                  </a:extLst>
                </a:gridCol>
                <a:gridCol w="2066434">
                  <a:extLst>
                    <a:ext uri="{9D8B030D-6E8A-4147-A177-3AD203B41FA5}">
                      <a16:colId xmlns:a16="http://schemas.microsoft.com/office/drawing/2014/main" val="796413734"/>
                    </a:ext>
                  </a:extLst>
                </a:gridCol>
              </a:tblGrid>
              <a:tr h="370840">
                <a:tc>
                  <a:txBody>
                    <a:bodyPr/>
                    <a:lstStyle/>
                    <a:p>
                      <a:pPr algn="ctr"/>
                      <a:r>
                        <a:rPr lang="en-US" dirty="0"/>
                        <a:t>Date</a:t>
                      </a:r>
                    </a:p>
                  </a:txBody>
                  <a:tcPr anchor="ctr"/>
                </a:tc>
                <a:tc>
                  <a:txBody>
                    <a:bodyPr/>
                    <a:lstStyle/>
                    <a:p>
                      <a:pPr algn="ctr"/>
                      <a:r>
                        <a:rPr lang="en-US" dirty="0"/>
                        <a:t>Estimated Valuation  ($bn)</a:t>
                      </a:r>
                    </a:p>
                  </a:txBody>
                  <a:tcPr anchor="ctr"/>
                </a:tc>
                <a:extLst>
                  <a:ext uri="{0D108BD9-81ED-4DB2-BD59-A6C34878D82A}">
                    <a16:rowId xmlns:a16="http://schemas.microsoft.com/office/drawing/2014/main" val="3187806881"/>
                  </a:ext>
                </a:extLst>
              </a:tr>
              <a:tr h="370840">
                <a:tc>
                  <a:txBody>
                    <a:bodyPr/>
                    <a:lstStyle/>
                    <a:p>
                      <a:r>
                        <a:rPr lang="en-US" dirty="0"/>
                        <a:t>Dec 2022</a:t>
                      </a:r>
                    </a:p>
                  </a:txBody>
                  <a:tcPr/>
                </a:tc>
                <a:tc>
                  <a:txBody>
                    <a:bodyPr/>
                    <a:lstStyle/>
                    <a:p>
                      <a:r>
                        <a:rPr lang="en-US" dirty="0"/>
                        <a:t>20</a:t>
                      </a:r>
                    </a:p>
                  </a:txBody>
                  <a:tcPr/>
                </a:tc>
                <a:extLst>
                  <a:ext uri="{0D108BD9-81ED-4DB2-BD59-A6C34878D82A}">
                    <a16:rowId xmlns:a16="http://schemas.microsoft.com/office/drawing/2014/main" val="1326865475"/>
                  </a:ext>
                </a:extLst>
              </a:tr>
              <a:tr h="370840">
                <a:tc>
                  <a:txBody>
                    <a:bodyPr/>
                    <a:lstStyle/>
                    <a:p>
                      <a:r>
                        <a:rPr lang="en-US" dirty="0"/>
                        <a:t>Feb 2023</a:t>
                      </a:r>
                    </a:p>
                  </a:txBody>
                  <a:tcPr/>
                </a:tc>
                <a:tc>
                  <a:txBody>
                    <a:bodyPr/>
                    <a:lstStyle/>
                    <a:p>
                      <a:r>
                        <a:rPr lang="en-US" dirty="0"/>
                        <a:t>29</a:t>
                      </a:r>
                    </a:p>
                  </a:txBody>
                  <a:tcPr/>
                </a:tc>
                <a:extLst>
                  <a:ext uri="{0D108BD9-81ED-4DB2-BD59-A6C34878D82A}">
                    <a16:rowId xmlns:a16="http://schemas.microsoft.com/office/drawing/2014/main" val="1370257392"/>
                  </a:ext>
                </a:extLst>
              </a:tr>
            </a:tbl>
          </a:graphicData>
        </a:graphic>
      </p:graphicFrame>
    </p:spTree>
    <p:extLst>
      <p:ext uri="{BB962C8B-B14F-4D97-AF65-F5344CB8AC3E}">
        <p14:creationId xmlns:p14="http://schemas.microsoft.com/office/powerpoint/2010/main" val="171994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F151-3677-B147-B448-8126181E38F8}"/>
              </a:ext>
            </a:extLst>
          </p:cNvPr>
          <p:cNvSpPr>
            <a:spLocks noGrp="1"/>
          </p:cNvSpPr>
          <p:nvPr>
            <p:ph type="title"/>
          </p:nvPr>
        </p:nvSpPr>
        <p:spPr>
          <a:xfrm>
            <a:off x="2589212" y="135737"/>
            <a:ext cx="8911687" cy="612408"/>
          </a:xfrm>
        </p:spPr>
        <p:txBody>
          <a:bodyPr>
            <a:normAutofit/>
          </a:bodyPr>
          <a:lstStyle/>
          <a:p>
            <a:r>
              <a:rPr lang="en-US" sz="2800" dirty="0"/>
              <a:t>Impact of ChatGPT on Workforce</a:t>
            </a:r>
          </a:p>
        </p:txBody>
      </p:sp>
      <p:sp>
        <p:nvSpPr>
          <p:cNvPr id="3" name="Content Placeholder 2">
            <a:extLst>
              <a:ext uri="{FF2B5EF4-FFF2-40B4-BE49-F238E27FC236}">
                <a16:creationId xmlns:a16="http://schemas.microsoft.com/office/drawing/2014/main" id="{6871C4F2-1A26-504C-9550-6A878BFCAEF4}"/>
              </a:ext>
            </a:extLst>
          </p:cNvPr>
          <p:cNvSpPr>
            <a:spLocks noGrp="1"/>
          </p:cNvSpPr>
          <p:nvPr>
            <p:ph idx="1"/>
          </p:nvPr>
        </p:nvSpPr>
        <p:spPr>
          <a:xfrm>
            <a:off x="2589211" y="748146"/>
            <a:ext cx="9063291" cy="2956392"/>
          </a:xfrm>
        </p:spPr>
        <p:txBody>
          <a:bodyPr>
            <a:normAutofit/>
          </a:bodyPr>
          <a:lstStyle/>
          <a:p>
            <a:r>
              <a:rPr lang="en-US" dirty="0"/>
              <a:t>As many as 300 million full-time jobs around the world could be automated in some way by the newest wave of artificial intelligence that has spawned platforms like ChatGPT, according to Goldman Sachs economists.</a:t>
            </a:r>
          </a:p>
          <a:p>
            <a:r>
              <a:rPr lang="en-US" dirty="0"/>
              <a:t>Important factors to consider while collecting data for measuring the impact of ChatGPT in the workforce includes </a:t>
            </a:r>
          </a:p>
          <a:p>
            <a:pPr lvl="1"/>
            <a:r>
              <a:rPr lang="en-US" dirty="0"/>
              <a:t>Percentage of jobs that are vulnerable for AI Automation</a:t>
            </a:r>
          </a:p>
          <a:p>
            <a:pPr lvl="1"/>
            <a:r>
              <a:rPr lang="en-US" dirty="0"/>
              <a:t>Categorize the jobs / job functions that have the potential to be replaced by Generative AI such as Administrative Jobs, Clerks/Paralegal Assistants Jobs at Law office, etc.,</a:t>
            </a:r>
          </a:p>
          <a:p>
            <a:pPr marL="0" indent="0">
              <a:buNone/>
            </a:pPr>
            <a:endParaRPr lang="en-US" dirty="0"/>
          </a:p>
        </p:txBody>
      </p:sp>
      <p:sp>
        <p:nvSpPr>
          <p:cNvPr id="9" name="Rectangle 8">
            <a:extLst>
              <a:ext uri="{FF2B5EF4-FFF2-40B4-BE49-F238E27FC236}">
                <a16:creationId xmlns:a16="http://schemas.microsoft.com/office/drawing/2014/main" id="{0973EA2F-0F3B-DF44-957C-9D2692913A40}"/>
              </a:ext>
            </a:extLst>
          </p:cNvPr>
          <p:cNvSpPr>
            <a:spLocks noChangeArrowheads="1"/>
          </p:cNvSpPr>
          <p:nvPr/>
        </p:nvSpPr>
        <p:spPr bwMode="auto">
          <a:xfrm>
            <a:off x="2930236" y="3268466"/>
            <a:ext cx="1625871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8" name="Chart 7">
            <a:extLst>
              <a:ext uri="{FF2B5EF4-FFF2-40B4-BE49-F238E27FC236}">
                <a16:creationId xmlns:a16="http://schemas.microsoft.com/office/drawing/2014/main" id="{DB18FCC6-18A0-FA41-81B2-7672B8004C96}"/>
              </a:ext>
            </a:extLst>
          </p:cNvPr>
          <p:cNvGraphicFramePr/>
          <p:nvPr>
            <p:extLst>
              <p:ext uri="{D42A27DB-BD31-4B8C-83A1-F6EECF244321}">
                <p14:modId xmlns:p14="http://schemas.microsoft.com/office/powerpoint/2010/main" val="2596288458"/>
              </p:ext>
            </p:extLst>
          </p:nvPr>
        </p:nvGraphicFramePr>
        <p:xfrm>
          <a:off x="2678541" y="3704022"/>
          <a:ext cx="4509659" cy="2723279"/>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8207A55A-2C1C-0545-84A6-FD0A0C9A7F91}"/>
              </a:ext>
            </a:extLst>
          </p:cNvPr>
          <p:cNvSpPr/>
          <p:nvPr/>
        </p:nvSpPr>
        <p:spPr>
          <a:xfrm>
            <a:off x="3096491" y="6427302"/>
            <a:ext cx="3890809" cy="307777"/>
          </a:xfrm>
          <a:prstGeom prst="rect">
            <a:avLst/>
          </a:prstGeom>
        </p:spPr>
        <p:txBody>
          <a:bodyPr wrap="none">
            <a:spAutoFit/>
          </a:bodyPr>
          <a:lstStyle/>
          <a:p>
            <a:r>
              <a:rPr lang="en-US" sz="1400" dirty="0">
                <a:ea typeface="Times New Roman" panose="02020603050405020304" pitchFamily="18" charset="0"/>
              </a:rPr>
              <a:t>Data Source: U.S. Bureau of Labor Statistics</a:t>
            </a:r>
          </a:p>
        </p:txBody>
      </p:sp>
      <p:graphicFrame>
        <p:nvGraphicFramePr>
          <p:cNvPr id="10" name="Chart 9">
            <a:extLst>
              <a:ext uri="{FF2B5EF4-FFF2-40B4-BE49-F238E27FC236}">
                <a16:creationId xmlns:a16="http://schemas.microsoft.com/office/drawing/2014/main" id="{40DFBED4-BA8D-454B-A2EB-D20BCE2CC49D}"/>
              </a:ext>
            </a:extLst>
          </p:cNvPr>
          <p:cNvGraphicFramePr/>
          <p:nvPr>
            <p:extLst>
              <p:ext uri="{D42A27DB-BD31-4B8C-83A1-F6EECF244321}">
                <p14:modId xmlns:p14="http://schemas.microsoft.com/office/powerpoint/2010/main" val="1069424393"/>
              </p:ext>
            </p:extLst>
          </p:nvPr>
        </p:nvGraphicFramePr>
        <p:xfrm>
          <a:off x="7207502" y="3714533"/>
          <a:ext cx="4711700" cy="270225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51172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4FDB7-F1EE-C84D-8337-95BB3360A5E3}"/>
              </a:ext>
            </a:extLst>
          </p:cNvPr>
          <p:cNvSpPr>
            <a:spLocks noGrp="1"/>
          </p:cNvSpPr>
          <p:nvPr>
            <p:ph type="title"/>
          </p:nvPr>
        </p:nvSpPr>
        <p:spPr>
          <a:xfrm>
            <a:off x="2592925" y="300553"/>
            <a:ext cx="8911687" cy="754524"/>
          </a:xfrm>
        </p:spPr>
        <p:txBody>
          <a:bodyPr>
            <a:normAutofit/>
          </a:bodyPr>
          <a:lstStyle/>
          <a:p>
            <a:r>
              <a:rPr lang="en-US" sz="2800" dirty="0"/>
              <a:t>Investing in ChatGPT for Healthcare</a:t>
            </a:r>
          </a:p>
        </p:txBody>
      </p:sp>
      <p:sp>
        <p:nvSpPr>
          <p:cNvPr id="3" name="Content Placeholder 2">
            <a:extLst>
              <a:ext uri="{FF2B5EF4-FFF2-40B4-BE49-F238E27FC236}">
                <a16:creationId xmlns:a16="http://schemas.microsoft.com/office/drawing/2014/main" id="{56872903-9B71-1749-B586-E9CD14C060BF}"/>
              </a:ext>
            </a:extLst>
          </p:cNvPr>
          <p:cNvSpPr>
            <a:spLocks noGrp="1"/>
          </p:cNvSpPr>
          <p:nvPr>
            <p:ph idx="1"/>
          </p:nvPr>
        </p:nvSpPr>
        <p:spPr>
          <a:xfrm>
            <a:off x="2592925" y="801077"/>
            <a:ext cx="8915400" cy="2970823"/>
          </a:xfrm>
        </p:spPr>
        <p:txBody>
          <a:bodyPr/>
          <a:lstStyle/>
          <a:p>
            <a:r>
              <a:rPr lang="en-US" dirty="0"/>
              <a:t>OpenAI introduced the latest iteration of its language model, GPT-4, with the added capability of processing visual inputs and this advancement holds particular significance for medical professionals. </a:t>
            </a:r>
          </a:p>
          <a:p>
            <a:r>
              <a:rPr lang="en-US" dirty="0"/>
              <a:t>AI algorithms could potentially detect patterns and anomalies in medical images such as X-rays, MRIs, and CT scans that might elude human observation. </a:t>
            </a:r>
          </a:p>
          <a:p>
            <a:r>
              <a:rPr lang="en-US" dirty="0"/>
              <a:t>In 2022, the Global </a:t>
            </a:r>
            <a:r>
              <a:rPr lang="en-US" b="1" dirty="0"/>
              <a:t>Generative AI in Healthcare Market</a:t>
            </a:r>
            <a:r>
              <a:rPr lang="en-US" dirty="0"/>
              <a:t> was valued at </a:t>
            </a:r>
            <a:r>
              <a:rPr lang="en-US" b="1" dirty="0"/>
              <a:t>USD 0.8 billion</a:t>
            </a:r>
            <a:r>
              <a:rPr lang="en-US" dirty="0"/>
              <a:t> and is expected to be valued at </a:t>
            </a:r>
            <a:r>
              <a:rPr lang="en-US" b="1" dirty="0"/>
              <a:t>USD 17.2 billion</a:t>
            </a:r>
            <a:r>
              <a:rPr lang="en-US" dirty="0"/>
              <a:t> in 2032. Between 2023 and 2032, this market is estimated to register the highest CAGR of </a:t>
            </a:r>
            <a:r>
              <a:rPr lang="en-US" b="1" dirty="0"/>
              <a:t>37%</a:t>
            </a:r>
            <a:r>
              <a:rPr lang="en-US" dirty="0"/>
              <a:t>.</a:t>
            </a:r>
          </a:p>
        </p:txBody>
      </p:sp>
      <p:pic>
        <p:nvPicPr>
          <p:cNvPr id="4" name="Picture 3">
            <a:extLst>
              <a:ext uri="{FF2B5EF4-FFF2-40B4-BE49-F238E27FC236}">
                <a16:creationId xmlns:a16="http://schemas.microsoft.com/office/drawing/2014/main" id="{019D3EA5-0D79-C34D-80E1-8666399EDF63}"/>
              </a:ext>
            </a:extLst>
          </p:cNvPr>
          <p:cNvPicPr/>
          <p:nvPr/>
        </p:nvPicPr>
        <p:blipFill>
          <a:blip r:embed="rId2"/>
          <a:stretch>
            <a:fillRect/>
          </a:stretch>
        </p:blipFill>
        <p:spPr>
          <a:xfrm>
            <a:off x="3175000" y="3771900"/>
            <a:ext cx="7937500" cy="2336800"/>
          </a:xfrm>
          <a:prstGeom prst="rect">
            <a:avLst/>
          </a:prstGeom>
        </p:spPr>
      </p:pic>
      <p:sp>
        <p:nvSpPr>
          <p:cNvPr id="5" name="Rectangle 4">
            <a:extLst>
              <a:ext uri="{FF2B5EF4-FFF2-40B4-BE49-F238E27FC236}">
                <a16:creationId xmlns:a16="http://schemas.microsoft.com/office/drawing/2014/main" id="{20C8556E-A8A3-054B-8129-B9FAB8BF8F24}"/>
              </a:ext>
            </a:extLst>
          </p:cNvPr>
          <p:cNvSpPr/>
          <p:nvPr/>
        </p:nvSpPr>
        <p:spPr>
          <a:xfrm>
            <a:off x="2592925" y="6336323"/>
            <a:ext cx="4838184" cy="307777"/>
          </a:xfrm>
          <a:prstGeom prst="rect">
            <a:avLst/>
          </a:prstGeom>
        </p:spPr>
        <p:txBody>
          <a:bodyPr wrap="none">
            <a:spAutoFit/>
          </a:bodyPr>
          <a:lstStyle/>
          <a:p>
            <a:r>
              <a:rPr lang="en-US" sz="1400" dirty="0"/>
              <a:t>Data Source: Forecast by Precedence Research Firm </a:t>
            </a:r>
          </a:p>
        </p:txBody>
      </p:sp>
    </p:spTree>
    <p:extLst>
      <p:ext uri="{BB962C8B-B14F-4D97-AF65-F5344CB8AC3E}">
        <p14:creationId xmlns:p14="http://schemas.microsoft.com/office/powerpoint/2010/main" val="812032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B45D4-3C50-5D4A-82F5-962164765A8E}"/>
              </a:ext>
            </a:extLst>
          </p:cNvPr>
          <p:cNvSpPr>
            <a:spLocks noGrp="1"/>
          </p:cNvSpPr>
          <p:nvPr>
            <p:ph type="title"/>
          </p:nvPr>
        </p:nvSpPr>
        <p:spPr>
          <a:xfrm>
            <a:off x="2592925" y="243110"/>
            <a:ext cx="8911687" cy="595090"/>
          </a:xfrm>
        </p:spPr>
        <p:txBody>
          <a:bodyPr>
            <a:normAutofit/>
          </a:bodyPr>
          <a:lstStyle/>
          <a:p>
            <a:r>
              <a:rPr lang="en-US" sz="2800" dirty="0"/>
              <a:t>Limitation, Ethical Concerns and Next Chapters</a:t>
            </a:r>
          </a:p>
        </p:txBody>
      </p:sp>
      <p:sp>
        <p:nvSpPr>
          <p:cNvPr id="3" name="Content Placeholder 2">
            <a:extLst>
              <a:ext uri="{FF2B5EF4-FFF2-40B4-BE49-F238E27FC236}">
                <a16:creationId xmlns:a16="http://schemas.microsoft.com/office/drawing/2014/main" id="{E612C0C8-A0B7-5046-B965-221E25A0C943}"/>
              </a:ext>
            </a:extLst>
          </p:cNvPr>
          <p:cNvSpPr>
            <a:spLocks noGrp="1"/>
          </p:cNvSpPr>
          <p:nvPr>
            <p:ph idx="1"/>
          </p:nvPr>
        </p:nvSpPr>
        <p:spPr>
          <a:xfrm>
            <a:off x="2451100" y="838200"/>
            <a:ext cx="9423400" cy="5842000"/>
          </a:xfrm>
        </p:spPr>
        <p:txBody>
          <a:bodyPr>
            <a:noAutofit/>
          </a:bodyPr>
          <a:lstStyle/>
          <a:p>
            <a:r>
              <a:rPr lang="en-US" b="1" dirty="0"/>
              <a:t>Major limitations </a:t>
            </a:r>
            <a:r>
              <a:rPr lang="en-US" dirty="0"/>
              <a:t>of ChatGPT includes Creativity, Bounded Knowledge and Cognitive Ability.</a:t>
            </a:r>
          </a:p>
          <a:p>
            <a:pPr lvl="0"/>
            <a:r>
              <a:rPr lang="en-US" b="1" dirty="0"/>
              <a:t>Ethical issues </a:t>
            </a:r>
            <a:r>
              <a:rPr lang="en-US" dirty="0"/>
              <a:t>surrounding ChatGPT includes Privacy, Discrimination (Bias), Transparency, Accountability, etc., </a:t>
            </a:r>
          </a:p>
          <a:p>
            <a:r>
              <a:rPr lang="en-US" b="1" dirty="0"/>
              <a:t>Next Chapter </a:t>
            </a:r>
            <a:r>
              <a:rPr lang="en-US" dirty="0"/>
              <a:t>for ChatGPT</a:t>
            </a:r>
          </a:p>
          <a:p>
            <a:pPr lvl="1"/>
            <a:r>
              <a:rPr lang="en-US" dirty="0"/>
              <a:t>Generative Pre-trained Transformer 4 is a multimodal large language model created by OpenAI, and the fourth in its series of GPT foundation models. </a:t>
            </a:r>
          </a:p>
          <a:p>
            <a:pPr lvl="1"/>
            <a:r>
              <a:rPr lang="en-US" dirty="0"/>
              <a:t>The GPT-4 helps provide more nuances and accurate response, GPT-4 can provide up-to-date information since it has the ability to connect to Internet.</a:t>
            </a:r>
          </a:p>
          <a:p>
            <a:pPr lvl="1"/>
            <a:r>
              <a:rPr lang="en-US" dirty="0"/>
              <a:t>GPT-4 with its image, audio and video compatibility makes it much more robust in areas such as reading, interpreting and storing medical transcript that are hand-written, analyze scripts, texts that are not digitized, etc., </a:t>
            </a:r>
          </a:p>
          <a:p>
            <a:pPr lvl="1"/>
            <a:r>
              <a:rPr lang="en-US" dirty="0"/>
              <a:t>GPT-4 has increased capacity for input and output of 25000 words per interaction. GPT-4 was built on top of a bigger training dataset (trained close to 100 trillion parameters).</a:t>
            </a:r>
          </a:p>
          <a:p>
            <a:pPr lvl="1"/>
            <a:r>
              <a:rPr lang="en-US" dirty="0"/>
              <a:t>GPT-4 is reported to have at least 40% improvement in performance as per internal performance benchmarking</a:t>
            </a:r>
          </a:p>
        </p:txBody>
      </p:sp>
    </p:spTree>
    <p:extLst>
      <p:ext uri="{BB962C8B-B14F-4D97-AF65-F5344CB8AC3E}">
        <p14:creationId xmlns:p14="http://schemas.microsoft.com/office/powerpoint/2010/main" val="2218686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B86E9-B6DC-644A-8BB3-5D3B573BBCEA}"/>
              </a:ext>
            </a:extLst>
          </p:cNvPr>
          <p:cNvSpPr>
            <a:spLocks noGrp="1"/>
          </p:cNvSpPr>
          <p:nvPr>
            <p:ph type="title"/>
          </p:nvPr>
        </p:nvSpPr>
        <p:spPr>
          <a:xfrm>
            <a:off x="2589212" y="179610"/>
            <a:ext cx="8911687" cy="556990"/>
          </a:xfrm>
        </p:spPr>
        <p:txBody>
          <a:bodyPr>
            <a:normAutofit/>
          </a:bodyPr>
          <a:lstStyle/>
          <a:p>
            <a:r>
              <a:rPr lang="en-US" sz="2800" dirty="0"/>
              <a:t>Assumptions and Opportunities/Challenges</a:t>
            </a:r>
          </a:p>
        </p:txBody>
      </p:sp>
      <p:sp>
        <p:nvSpPr>
          <p:cNvPr id="3" name="Content Placeholder 2">
            <a:extLst>
              <a:ext uri="{FF2B5EF4-FFF2-40B4-BE49-F238E27FC236}">
                <a16:creationId xmlns:a16="http://schemas.microsoft.com/office/drawing/2014/main" id="{80AB5D98-C7BA-A94E-B37C-5DA5D7615211}"/>
              </a:ext>
            </a:extLst>
          </p:cNvPr>
          <p:cNvSpPr>
            <a:spLocks noGrp="1"/>
          </p:cNvSpPr>
          <p:nvPr>
            <p:ph idx="1"/>
          </p:nvPr>
        </p:nvSpPr>
        <p:spPr>
          <a:xfrm>
            <a:off x="2589212" y="736600"/>
            <a:ext cx="9361488" cy="5943600"/>
          </a:xfrm>
        </p:spPr>
        <p:txBody>
          <a:bodyPr>
            <a:normAutofit/>
          </a:bodyPr>
          <a:lstStyle/>
          <a:p>
            <a:r>
              <a:rPr lang="en-US" b="1" dirty="0"/>
              <a:t>Assumptions</a:t>
            </a:r>
          </a:p>
          <a:p>
            <a:pPr lvl="1"/>
            <a:r>
              <a:rPr lang="en-US" dirty="0"/>
              <a:t>Individuals and entities using ChatGPT believe that the output of ChatGPT is accurate.</a:t>
            </a:r>
          </a:p>
          <a:p>
            <a:pPr lvl="1"/>
            <a:r>
              <a:rPr lang="en-US" dirty="0"/>
              <a:t>As per reports, ChatGPT producing assumed output rather than referencing materials from training dataset including holidays, entity specific schedule/policies.</a:t>
            </a:r>
          </a:p>
          <a:p>
            <a:r>
              <a:rPr lang="en-US" b="1" dirty="0"/>
              <a:t>Opportunities</a:t>
            </a:r>
          </a:p>
          <a:p>
            <a:pPr lvl="1"/>
            <a:r>
              <a:rPr lang="en-US" dirty="0"/>
              <a:t>Automating repetitive trivial tasks, providing security recommendation, perform risk analysis on various sectors such as finance, insurance, healthcare, etc., </a:t>
            </a:r>
          </a:p>
          <a:p>
            <a:pPr lvl="1"/>
            <a:r>
              <a:rPr lang="en-US" dirty="0"/>
              <a:t>Identifying patterns that are not obvious to human interpretation, preventing cybercrimes, perform predictive analytics, availability (24/7 accessibility) for product support, augmenting educational resources.</a:t>
            </a:r>
          </a:p>
          <a:p>
            <a:r>
              <a:rPr lang="en-US" b="1" dirty="0"/>
              <a:t>Challenges</a:t>
            </a:r>
          </a:p>
          <a:p>
            <a:pPr lvl="1"/>
            <a:r>
              <a:rPr lang="en-US" dirty="0"/>
              <a:t>Academic Integrity, Resource Constraint (often limited to underlying training Datasets), Bias and Fairness, Accountability, Transparency (in computation of results for a problem/question).</a:t>
            </a:r>
          </a:p>
          <a:p>
            <a:pPr lvl="1"/>
            <a:r>
              <a:rPr lang="en-US" dirty="0"/>
              <a:t>Legal and regulatory compliance (adapting to latest policy enforcements from Governments across the globe), balancing human expertise with automation.</a:t>
            </a:r>
          </a:p>
          <a:p>
            <a:endParaRPr lang="en-US" dirty="0"/>
          </a:p>
        </p:txBody>
      </p:sp>
    </p:spTree>
    <p:extLst>
      <p:ext uri="{BB962C8B-B14F-4D97-AF65-F5344CB8AC3E}">
        <p14:creationId xmlns:p14="http://schemas.microsoft.com/office/powerpoint/2010/main" val="577299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69761-05C8-BF42-BD4F-BD6B709C94C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160127B5-BA49-2C43-9F7D-7B31B8ADD4F4}"/>
              </a:ext>
            </a:extLst>
          </p:cNvPr>
          <p:cNvSpPr>
            <a:spLocks noGrp="1"/>
          </p:cNvSpPr>
          <p:nvPr>
            <p:ph idx="1"/>
          </p:nvPr>
        </p:nvSpPr>
        <p:spPr>
          <a:xfrm>
            <a:off x="2589212" y="1384300"/>
            <a:ext cx="8915400" cy="4864100"/>
          </a:xfrm>
        </p:spPr>
        <p:txBody>
          <a:bodyPr>
            <a:normAutofit/>
          </a:bodyPr>
          <a:lstStyle/>
          <a:p>
            <a:r>
              <a:rPr lang="en-US" dirty="0"/>
              <a:t>In essence, ChatGPT is changing the world by improving communication, efficiency, enabling new applications, and increasing accessibility. </a:t>
            </a:r>
          </a:p>
          <a:p>
            <a:r>
              <a:rPr lang="en-US" dirty="0"/>
              <a:t>Efforts are required to fully realize the potential of Chat GPT by solving ethical challenges, reducing bias, promoting justice, upskilling the workforce, and preserving user privacy. </a:t>
            </a:r>
          </a:p>
          <a:p>
            <a:r>
              <a:rPr lang="en-US" dirty="0"/>
              <a:t>Goals such as improving customer happiness, stimulating innovation, or maintaining a competitive advantage, ChatGPT emerges as a solution that businesses of all sizes should consider incorporating into their plans to achieve their overall goals. </a:t>
            </a:r>
          </a:p>
          <a:p>
            <a:pPr marL="0" indent="0">
              <a:buNone/>
            </a:pPr>
            <a:endParaRPr lang="en-US" sz="2000" dirty="0"/>
          </a:p>
          <a:p>
            <a:pPr marL="0" indent="0">
              <a:buNone/>
            </a:pPr>
            <a:r>
              <a:rPr lang="en-US" sz="2000" b="1" dirty="0"/>
              <a:t>ChatGPT puts the power of AI in everyone’s hand</a:t>
            </a:r>
          </a:p>
          <a:p>
            <a:pPr marL="0" indent="0">
              <a:buNone/>
            </a:pPr>
            <a:r>
              <a:rPr lang="en-US" sz="2000" i="1" dirty="0"/>
              <a:t>- Frederic Godin</a:t>
            </a:r>
            <a:endParaRPr lang="en-US" i="1" dirty="0"/>
          </a:p>
        </p:txBody>
      </p:sp>
    </p:spTree>
    <p:extLst>
      <p:ext uri="{BB962C8B-B14F-4D97-AF65-F5344CB8AC3E}">
        <p14:creationId xmlns:p14="http://schemas.microsoft.com/office/powerpoint/2010/main" val="405378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C5B5C-C758-D546-89B3-97C35D4621BA}"/>
              </a:ext>
            </a:extLst>
          </p:cNvPr>
          <p:cNvSpPr>
            <a:spLocks noGrp="1"/>
          </p:cNvSpPr>
          <p:nvPr>
            <p:ph type="title"/>
          </p:nvPr>
        </p:nvSpPr>
        <p:spPr>
          <a:xfrm>
            <a:off x="2589212" y="128810"/>
            <a:ext cx="8911687" cy="544290"/>
          </a:xfrm>
        </p:spPr>
        <p:txBody>
          <a:bodyPr>
            <a:normAutofit/>
          </a:bodyPr>
          <a:lstStyle/>
          <a:p>
            <a:r>
              <a:rPr lang="en-US" sz="2800" dirty="0"/>
              <a:t>Reference</a:t>
            </a:r>
          </a:p>
        </p:txBody>
      </p:sp>
      <p:sp>
        <p:nvSpPr>
          <p:cNvPr id="3" name="Content Placeholder 2">
            <a:extLst>
              <a:ext uri="{FF2B5EF4-FFF2-40B4-BE49-F238E27FC236}">
                <a16:creationId xmlns:a16="http://schemas.microsoft.com/office/drawing/2014/main" id="{8F1268E9-CF2D-6D46-90CA-67FF30BE51E2}"/>
              </a:ext>
            </a:extLst>
          </p:cNvPr>
          <p:cNvSpPr>
            <a:spLocks noGrp="1"/>
          </p:cNvSpPr>
          <p:nvPr>
            <p:ph idx="1"/>
          </p:nvPr>
        </p:nvSpPr>
        <p:spPr>
          <a:xfrm>
            <a:off x="1651000" y="673100"/>
            <a:ext cx="10452100" cy="6062237"/>
          </a:xfrm>
        </p:spPr>
        <p:txBody>
          <a:bodyPr>
            <a:noAutofit/>
          </a:bodyPr>
          <a:lstStyle/>
          <a:p>
            <a:pPr lvl="0"/>
            <a:r>
              <a:rPr lang="en-US" sz="1000" dirty="0"/>
              <a:t>Must-Know Chat GPT-4 Statistics [Recent Analysis] • </a:t>
            </a:r>
            <a:r>
              <a:rPr lang="en-US" sz="1000" dirty="0" err="1"/>
              <a:t>Gitnux</a:t>
            </a:r>
            <a:r>
              <a:rPr lang="en-US" sz="1000" dirty="0"/>
              <a:t>. (n.d.). </a:t>
            </a:r>
            <a:r>
              <a:rPr lang="en-US" sz="1000" dirty="0" err="1"/>
              <a:t>Gitnux.org</a:t>
            </a:r>
            <a:r>
              <a:rPr lang="en-US" sz="1000" dirty="0"/>
              <a:t>. Retrieved March 30, 2024, from </a:t>
            </a:r>
            <a:r>
              <a:rPr lang="en-US" sz="1000" dirty="0">
                <a:hlinkClick r:id="rId2"/>
              </a:rPr>
              <a:t>https://gitnux.org/chat-gpt-statistics/#:~:text=Chat%20GPT%20is%20attracting%20an</a:t>
            </a:r>
            <a:endParaRPr lang="en-US" sz="1000" dirty="0"/>
          </a:p>
          <a:p>
            <a:pPr lvl="0"/>
            <a:r>
              <a:rPr lang="en-US" sz="1000" dirty="0"/>
              <a:t>Duarte, F. (2023, March 30). Number of ChatGPT Users (2023). Exploding Topics. </a:t>
            </a:r>
            <a:r>
              <a:rPr lang="en-US" sz="1000" dirty="0">
                <a:hlinkClick r:id="rId3"/>
              </a:rPr>
              <a:t>https://explodingtopics.com/blog/chatgpt-users#</a:t>
            </a:r>
            <a:endParaRPr lang="en-US" sz="1000" dirty="0"/>
          </a:p>
          <a:p>
            <a:pPr lvl="0"/>
            <a:r>
              <a:rPr lang="en-US" sz="1000" dirty="0"/>
              <a:t>Your 7 Biggest ChatGPT Questions, Answered. (n.d.). Gartner. </a:t>
            </a:r>
            <a:r>
              <a:rPr lang="en-US" sz="1000" dirty="0">
                <a:hlinkClick r:id="rId4"/>
              </a:rPr>
              <a:t>https://www.gartner.com/en/articles/your-7-biggest-chatgpt-questions-answered</a:t>
            </a:r>
            <a:endParaRPr lang="en-US" sz="1000" dirty="0"/>
          </a:p>
          <a:p>
            <a:pPr lvl="0"/>
            <a:r>
              <a:rPr lang="en-US" sz="1000" dirty="0"/>
              <a:t>The Future of AI: How Will Chat GPT Change The World? (2020). Learn about Technology with TDK. </a:t>
            </a:r>
            <a:r>
              <a:rPr lang="en-US" sz="1000" dirty="0">
                <a:hlinkClick r:id="rId5"/>
              </a:rPr>
              <a:t>https://www.tdk.com/en/tech-mag/past-present-future-tech/what-is-chat-gpt#section6</a:t>
            </a:r>
            <a:endParaRPr lang="en-US" sz="1000" dirty="0"/>
          </a:p>
          <a:p>
            <a:pPr lvl="0"/>
            <a:r>
              <a:rPr lang="en-US" sz="1000" dirty="0"/>
              <a:t>Is Chat GPT changing the world? (2019). Quora. </a:t>
            </a:r>
            <a:r>
              <a:rPr lang="en-US" sz="1000" dirty="0">
                <a:hlinkClick r:id="rId6"/>
              </a:rPr>
              <a:t>https://www.quora.com/Is-Chat-GPT-changing-the-world#:~:text=Here%20are%20some%20of%20the</a:t>
            </a:r>
            <a:endParaRPr lang="en-US" sz="1000" dirty="0"/>
          </a:p>
          <a:p>
            <a:pPr lvl="0"/>
            <a:r>
              <a:rPr lang="en-US" sz="1000" dirty="0"/>
              <a:t>The Consequences of Chat GPT - Transforming Society and the Professional World. (n.d.). </a:t>
            </a:r>
            <a:r>
              <a:rPr lang="en-US" sz="1000" dirty="0" err="1"/>
              <a:t>Www.linkedin.com</a:t>
            </a:r>
            <a:r>
              <a:rPr lang="en-US" sz="1000" dirty="0"/>
              <a:t>. Retrieved April 19, 2024, from </a:t>
            </a:r>
            <a:r>
              <a:rPr lang="en-US" sz="1000" dirty="0">
                <a:hlinkClick r:id="rId7"/>
              </a:rPr>
              <a:t>https://www.linkedin.com/pulse/consequences-chat-gpt-transforming-society-world-jaliawala-acca-/</a:t>
            </a:r>
            <a:endParaRPr lang="en-US" sz="1000" dirty="0"/>
          </a:p>
          <a:p>
            <a:pPr lvl="0"/>
            <a:r>
              <a:rPr lang="en-US" sz="1000" dirty="0"/>
              <a:t>With Little Employer Oversight, ChatGPT Usage Rates Rise Among American Workers. (n.d.). Business.com. </a:t>
            </a:r>
            <a:r>
              <a:rPr lang="en-US" sz="1000" dirty="0">
                <a:hlinkClick r:id="rId8"/>
              </a:rPr>
              <a:t>https://www.business.com/technology/chatgpt-usage-workplace-study/</a:t>
            </a:r>
            <a:endParaRPr lang="en-US" sz="1000" dirty="0"/>
          </a:p>
          <a:p>
            <a:pPr lvl="0"/>
            <a:r>
              <a:rPr lang="en-US" sz="1000" dirty="0"/>
              <a:t>‌Staff, E. (2023, February 17). What Does ChatGPT Mean for the Future of Business? Entrepreneur. </a:t>
            </a:r>
            <a:r>
              <a:rPr lang="en-US" sz="1000" dirty="0">
                <a:hlinkClick r:id="rId9"/>
              </a:rPr>
              <a:t>https://www.entrepreneur.com/science-technology/what-does-chatgpt-mean-for-the-future-of-business/445020</a:t>
            </a:r>
            <a:endParaRPr lang="en-US" sz="1000" dirty="0"/>
          </a:p>
          <a:p>
            <a:pPr lvl="0"/>
            <a:r>
              <a:rPr lang="en-US" sz="1000" dirty="0"/>
              <a:t>‌Curry, D. (2023, February 9). ChatGPT Revenue and Usage Statistics (2023). Business of Apps. </a:t>
            </a:r>
            <a:r>
              <a:rPr lang="en-US" sz="1000" dirty="0">
                <a:hlinkClick r:id="rId10"/>
              </a:rPr>
              <a:t>https://www.businessofapps.com/data/chatgpt-statistics/</a:t>
            </a:r>
            <a:endParaRPr lang="en-US" sz="1000" dirty="0"/>
          </a:p>
          <a:p>
            <a:pPr lvl="0"/>
            <a:r>
              <a:rPr lang="en-US" sz="1000" dirty="0"/>
              <a:t>Bunker, N. (2023, November 15). Indeed’s 2024 US Jobs &amp; Hiring Trends Report. Indeed Hiring Lab. </a:t>
            </a:r>
            <a:r>
              <a:rPr lang="en-US" sz="1000" dirty="0">
                <a:hlinkClick r:id="rId11"/>
              </a:rPr>
              <a:t>https://www.hiringlab.org/2023/11/15/indeeds-2024-us-jobs-hiring-trends-report/</a:t>
            </a:r>
            <a:endParaRPr lang="en-US" sz="1000" dirty="0"/>
          </a:p>
          <a:p>
            <a:pPr lvl="0"/>
            <a:r>
              <a:rPr lang="en-US" sz="1000" dirty="0"/>
              <a:t>Chat GPT and AI in healthcare: Just what the doctor ordered? (2023, April 26). </a:t>
            </a:r>
            <a:r>
              <a:rPr lang="en-US" sz="1000" dirty="0" err="1"/>
              <a:t>Www.simon-Kucher.com</a:t>
            </a:r>
            <a:r>
              <a:rPr lang="en-US" sz="1000" dirty="0"/>
              <a:t>. </a:t>
            </a:r>
            <a:r>
              <a:rPr lang="en-US" sz="1000" dirty="0">
                <a:hlinkClick r:id="rId12"/>
              </a:rPr>
              <a:t>https://www.simon-kucher.com/en/insights/chat-gpt-and-ai-healthcare-just-what-doctor-ordered</a:t>
            </a:r>
            <a:endParaRPr lang="en-US" sz="1000" dirty="0"/>
          </a:p>
          <a:p>
            <a:pPr lvl="0"/>
            <a:r>
              <a:rPr lang="en-US" sz="1000" dirty="0"/>
              <a:t>‌ ChatGPT: Health care’s next big thing? (n.d.). </a:t>
            </a:r>
            <a:r>
              <a:rPr lang="en-US" sz="1000" dirty="0" err="1"/>
              <a:t>MedicalEconomics</a:t>
            </a:r>
            <a:r>
              <a:rPr lang="en-US" sz="1000" dirty="0"/>
              <a:t>. </a:t>
            </a:r>
            <a:r>
              <a:rPr lang="en-US" sz="1000" dirty="0">
                <a:hlinkClick r:id="rId13"/>
              </a:rPr>
              <a:t>https://www.medicaleconomics.com/view/chatgpt-health-care-s-next-big-thing-</a:t>
            </a:r>
            <a:endParaRPr lang="en-US" sz="1000" dirty="0"/>
          </a:p>
          <a:p>
            <a:pPr lvl="0"/>
            <a:r>
              <a:rPr lang="en-US" sz="1000" dirty="0"/>
              <a:t>Generative AI In Healthcare Market Size, Growth Report 2032. (n.d.). </a:t>
            </a:r>
            <a:r>
              <a:rPr lang="en-US" sz="1000" dirty="0" err="1"/>
              <a:t>Www.precedenceresearch.com</a:t>
            </a:r>
            <a:r>
              <a:rPr lang="en-US" sz="1000" dirty="0"/>
              <a:t>. </a:t>
            </a:r>
            <a:r>
              <a:rPr lang="en-US" sz="1000" dirty="0">
                <a:hlinkClick r:id="rId14"/>
              </a:rPr>
              <a:t>https://www.precedenceresearch.com/generative-ai-in-healthcare-market</a:t>
            </a:r>
            <a:endParaRPr lang="en-US" sz="1000" dirty="0"/>
          </a:p>
          <a:p>
            <a:pPr lvl="0"/>
            <a:r>
              <a:rPr lang="en-US" sz="1000" dirty="0" err="1"/>
              <a:t>Toh</a:t>
            </a:r>
            <a:r>
              <a:rPr lang="en-US" sz="1000" dirty="0"/>
              <a:t>, M. (2023, March 29). 300 million jobs could be affected by latest wave of AI, says Goldman Sachs | CNN Business. CNN. </a:t>
            </a:r>
            <a:r>
              <a:rPr lang="en-US" sz="1000" dirty="0">
                <a:hlinkClick r:id="rId15"/>
              </a:rPr>
              <a:t>https://www.cnn.com/2023/03/29/tech/chatgpt-ai-automation-jobs-impact-intl-hnk/index.html</a:t>
            </a:r>
            <a:endParaRPr lang="en-US" sz="1000" dirty="0"/>
          </a:p>
          <a:p>
            <a:pPr lvl="0"/>
            <a:r>
              <a:rPr lang="en-US" sz="1000" dirty="0"/>
              <a:t>Stahl, B. C., &amp; Eke, D. (2024). The ethics of ChatGPT – Exploring the ethical issues of an emerging technology. International Journal of Information Management, 74(74), 102700–102700. </a:t>
            </a:r>
            <a:r>
              <a:rPr lang="en-US" sz="1000" dirty="0">
                <a:hlinkClick r:id="rId16"/>
              </a:rPr>
              <a:t>https://doi.org/10.1016/j.ijinfomgt.2023.102700</a:t>
            </a:r>
            <a:endParaRPr lang="en-US" sz="1000" dirty="0"/>
          </a:p>
          <a:p>
            <a:pPr lvl="0"/>
            <a:r>
              <a:rPr lang="en-US" sz="1000" dirty="0"/>
              <a:t>Armitage, P. (2023, March 24). 5 Ethics Issues for ChatGPT and Design. The Fountain Institute. </a:t>
            </a:r>
            <a:r>
              <a:rPr lang="en-US" sz="1000" dirty="0">
                <a:hlinkClick r:id="rId17"/>
              </a:rPr>
              <a:t>https://www.thefountaininstitute.com/blog/chat-gpt-ethics</a:t>
            </a:r>
            <a:endParaRPr lang="en-US" sz="1000" dirty="0"/>
          </a:p>
        </p:txBody>
      </p:sp>
    </p:spTree>
    <p:extLst>
      <p:ext uri="{BB962C8B-B14F-4D97-AF65-F5344CB8AC3E}">
        <p14:creationId xmlns:p14="http://schemas.microsoft.com/office/powerpoint/2010/main" val="173683635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215</TotalTime>
  <Words>1623</Words>
  <Application>Microsoft Macintosh PowerPoint</Application>
  <PresentationFormat>Widescreen</PresentationFormat>
  <Paragraphs>93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Times New Roman</vt:lpstr>
      <vt:lpstr>Wingdings 3</vt:lpstr>
      <vt:lpstr>Wisp</vt:lpstr>
      <vt:lpstr>The future of ChatGPT: How will ChatGPT impact the world?</vt:lpstr>
      <vt:lpstr>ChatGPT Overview</vt:lpstr>
      <vt:lpstr>ChatGPT Trend</vt:lpstr>
      <vt:lpstr>Role of ChatGPT in Business Enterprise</vt:lpstr>
      <vt:lpstr>Impact of ChatGPT on Workforce</vt:lpstr>
      <vt:lpstr>Investing in ChatGPT for Healthcare</vt:lpstr>
      <vt:lpstr>Limitation, Ethical Concerns and Next Chapters</vt:lpstr>
      <vt:lpstr>Assumptions and Opportunities/Challenges</vt:lpstr>
      <vt:lpstr>Conclusion</vt:lpstr>
      <vt:lpstr>Reference</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ChatGPT: How will ChatGPT impact the world?</dc:title>
  <dc:creator>Mathan Kumar</dc:creator>
  <cp:lastModifiedBy>Mathan Kumar</cp:lastModifiedBy>
  <cp:revision>60</cp:revision>
  <dcterms:created xsi:type="dcterms:W3CDTF">2024-05-12T23:02:06Z</dcterms:created>
  <dcterms:modified xsi:type="dcterms:W3CDTF">2024-05-13T02:40:30Z</dcterms:modified>
</cp:coreProperties>
</file>